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59" r:id="rId4"/>
    <p:sldId id="260" r:id="rId5"/>
    <p:sldId id="261" r:id="rId6"/>
    <p:sldId id="267" r:id="rId7"/>
    <p:sldId id="263" r:id="rId8"/>
    <p:sldId id="268" r:id="rId9"/>
    <p:sldId id="269" r:id="rId10"/>
    <p:sldId id="270" r:id="rId11"/>
  </p:sldIdLst>
  <p:sldSz cx="14630400" cy="8229600"/>
  <p:notesSz cx="8229600" cy="14630400"/>
  <p:embeddedFontLst>
    <p:embeddedFont>
      <p:font typeface="Noto Sans SC" panose="020B0200000000000000" pitchFamily="34" charset="-128"/>
      <p:regular r:id="rId13"/>
      <p:bold r:id="rId14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Miguel Alvarez" userId="3674e1a8bb321a8c" providerId="LiveId" clId="{0B663205-36EA-4A63-9414-81DA4467BB82}"/>
    <pc:docChg chg="undo custSel modSld">
      <pc:chgData name="Juan Miguel Alvarez" userId="3674e1a8bb321a8c" providerId="LiveId" clId="{0B663205-36EA-4A63-9414-81DA4467BB82}" dt="2026-03-11T22:36:50.488" v="70" actId="1076"/>
      <pc:docMkLst>
        <pc:docMk/>
      </pc:docMkLst>
      <pc:sldChg chg="modSp mod">
        <pc:chgData name="Juan Miguel Alvarez" userId="3674e1a8bb321a8c" providerId="LiveId" clId="{0B663205-36EA-4A63-9414-81DA4467BB82}" dt="2026-03-03T22:10:27.859" v="12" actId="20577"/>
        <pc:sldMkLst>
          <pc:docMk/>
          <pc:sldMk cId="0" sldId="256"/>
        </pc:sldMkLst>
        <pc:spChg chg="mod">
          <ac:chgData name="Juan Miguel Alvarez" userId="3674e1a8bb321a8c" providerId="LiveId" clId="{0B663205-36EA-4A63-9414-81DA4467BB82}" dt="2026-03-03T22:10:27.859" v="12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Juan Miguel Alvarez" userId="3674e1a8bb321a8c" providerId="LiveId" clId="{0B663205-36EA-4A63-9414-81DA4467BB82}" dt="2026-03-03T22:10:21.367" v="10" actId="1076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Juan Miguel Alvarez" userId="3674e1a8bb321a8c" providerId="LiveId" clId="{0B663205-36EA-4A63-9414-81DA4467BB82}" dt="2026-03-03T22:10:59.484" v="18" actId="1076"/>
        <pc:sldMkLst>
          <pc:docMk/>
          <pc:sldMk cId="0" sldId="259"/>
        </pc:sldMkLst>
        <pc:spChg chg="mod">
          <ac:chgData name="Juan Miguel Alvarez" userId="3674e1a8bb321a8c" providerId="LiveId" clId="{0B663205-36EA-4A63-9414-81DA4467BB82}" dt="2026-03-03T22:10:48.710" v="15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Juan Miguel Alvarez" userId="3674e1a8bb321a8c" providerId="LiveId" clId="{0B663205-36EA-4A63-9414-81DA4467BB82}" dt="2026-03-03T22:10:45.061" v="14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Juan Miguel Alvarez" userId="3674e1a8bb321a8c" providerId="LiveId" clId="{0B663205-36EA-4A63-9414-81DA4467BB82}" dt="2026-03-03T22:10:59.484" v="18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Juan Miguel Alvarez" userId="3674e1a8bb321a8c" providerId="LiveId" clId="{0B663205-36EA-4A63-9414-81DA4467BB82}" dt="2026-03-03T22:10:55.634" v="17" actId="14100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Juan Miguel Alvarez" userId="3674e1a8bb321a8c" providerId="LiveId" clId="{0B663205-36EA-4A63-9414-81DA4467BB82}" dt="2026-03-11T22:34:38.566" v="67" actId="790"/>
        <pc:sldMkLst>
          <pc:docMk/>
          <pc:sldMk cId="0" sldId="261"/>
        </pc:sldMkLst>
        <pc:spChg chg="mod">
          <ac:chgData name="Juan Miguel Alvarez" userId="3674e1a8bb321a8c" providerId="LiveId" clId="{0B663205-36EA-4A63-9414-81DA4467BB82}" dt="2026-03-11T22:34:38.566" v="67" actId="790"/>
          <ac:spMkLst>
            <pc:docMk/>
            <pc:sldMk cId="0" sldId="261"/>
            <ac:spMk id="6" creationId="{00000000-0000-0000-0000-000000000000}"/>
          </ac:spMkLst>
        </pc:spChg>
      </pc:sldChg>
      <pc:sldChg chg="modSp mod">
        <pc:chgData name="Juan Miguel Alvarez" userId="3674e1a8bb321a8c" providerId="LiveId" clId="{0B663205-36EA-4A63-9414-81DA4467BB82}" dt="2026-03-11T22:36:50.488" v="70" actId="1076"/>
        <pc:sldMkLst>
          <pc:docMk/>
          <pc:sldMk cId="0" sldId="263"/>
        </pc:sldMkLst>
        <pc:spChg chg="mod">
          <ac:chgData name="Juan Miguel Alvarez" userId="3674e1a8bb321a8c" providerId="LiveId" clId="{0B663205-36EA-4A63-9414-81DA4467BB82}" dt="2026-03-11T22:36:45.989" v="69" actId="948"/>
          <ac:spMkLst>
            <pc:docMk/>
            <pc:sldMk cId="0" sldId="263"/>
            <ac:spMk id="7" creationId="{00000000-0000-0000-0000-000000000000}"/>
          </ac:spMkLst>
        </pc:spChg>
        <pc:spChg chg="mod">
          <ac:chgData name="Juan Miguel Alvarez" userId="3674e1a8bb321a8c" providerId="LiveId" clId="{0B663205-36EA-4A63-9414-81DA4467BB82}" dt="2026-03-11T22:36:50.488" v="70" actId="1076"/>
          <ac:spMkLst>
            <pc:docMk/>
            <pc:sldMk cId="0" sldId="263"/>
            <ac:spMk id="8" creationId="{00000000-0000-0000-0000-000000000000}"/>
          </ac:spMkLst>
        </pc:spChg>
      </pc:sldChg>
      <pc:sldChg chg="modSp mod">
        <pc:chgData name="Juan Miguel Alvarez" userId="3674e1a8bb321a8c" providerId="LiveId" clId="{0B663205-36EA-4A63-9414-81DA4467BB82}" dt="2026-03-03T22:10:04.832" v="3" actId="1076"/>
        <pc:sldMkLst>
          <pc:docMk/>
          <pc:sldMk cId="0" sldId="266"/>
        </pc:sldMkLst>
        <pc:spChg chg="mod">
          <ac:chgData name="Juan Miguel Alvarez" userId="3674e1a8bb321a8c" providerId="LiveId" clId="{0B663205-36EA-4A63-9414-81DA4467BB82}" dt="2026-03-03T22:09:53.192" v="1" actId="14100"/>
          <ac:spMkLst>
            <pc:docMk/>
            <pc:sldMk cId="0" sldId="266"/>
            <ac:spMk id="7" creationId="{00000000-0000-0000-0000-000000000000}"/>
          </ac:spMkLst>
        </pc:spChg>
        <pc:spChg chg="mod">
          <ac:chgData name="Juan Miguel Alvarez" userId="3674e1a8bb321a8c" providerId="LiveId" clId="{0B663205-36EA-4A63-9414-81DA4467BB82}" dt="2026-03-03T22:10:04.832" v="3" actId="1076"/>
          <ac:spMkLst>
            <pc:docMk/>
            <pc:sldMk cId="0" sldId="266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0183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851ED-8B6B-089B-7A46-9D47D2B19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5B476-9B9B-A405-012E-85E1D202F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3AD696-E771-574F-4128-F3C25B792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92A90-46F3-A467-B517-2541BD8117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96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5" name="Imagen 7">
            <a:extLst>
              <a:ext uri="{FF2B5EF4-FFF2-40B4-BE49-F238E27FC236}">
                <a16:creationId xmlns:a16="http://schemas.microsoft.com/office/drawing/2014/main" id="{AD3D73AF-A447-0260-6FED-F694754D80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102" b="51517"/>
          <a:stretch>
            <a:fillRect/>
          </a:stretch>
        </p:blipFill>
        <p:spPr>
          <a:xfrm>
            <a:off x="11827765" y="66338"/>
            <a:ext cx="2734901" cy="62805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11" Type="http://schemas.openxmlformats.org/officeDocument/2006/relationships/hyperlink" Target="http://127.0.0.1:7860/" TargetMode="External"/><Relationship Id="rId5" Type="http://schemas.openxmlformats.org/officeDocument/2006/relationships/image" Target="../media/image21.png"/><Relationship Id="rId10" Type="http://schemas.openxmlformats.org/officeDocument/2006/relationships/image" Target="../media/image25.jpeg"/><Relationship Id="rId4" Type="http://schemas.openxmlformats.org/officeDocument/2006/relationships/image" Target="../media/image20.svg"/><Relationship Id="rId9" Type="http://schemas.openxmlformats.org/officeDocument/2006/relationships/hyperlink" Target="https://github.com/whaleskin/obs-tfm.git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64548" y="3167745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50"/>
              </a:lnSpc>
              <a:buNone/>
            </a:pPr>
            <a:r>
              <a:rPr lang="es-ES" sz="485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Sistema de Predicción de Retrasos en Vuelos</a:t>
            </a:r>
            <a:endParaRPr lang="es-ES" sz="485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48590" y="139449"/>
            <a:ext cx="11057691" cy="394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ES" sz="24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Máster de Formación Permanente en Machine </a:t>
            </a:r>
            <a:r>
              <a:rPr lang="es-ES" sz="2400" noProof="0" dirty="0" err="1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Learning</a:t>
            </a:r>
            <a:r>
              <a:rPr lang="es-ES" sz="24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e Inteligencia Artificial</a:t>
            </a:r>
            <a:endParaRPr lang="es-ES" sz="24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8590" y="385082"/>
            <a:ext cx="11057691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s-ES" sz="16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Edición 2025/2026</a:t>
            </a:r>
            <a:endParaRPr lang="es-ES" sz="16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350699" y="6981706"/>
            <a:ext cx="4096822" cy="917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s-ES" sz="2000" noProof="0" dirty="0">
                <a:solidFill>
                  <a:srgbClr val="00B05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Estudiantes</a:t>
            </a:r>
            <a:r>
              <a:rPr lang="es-ES" sz="1900" noProof="0" dirty="0">
                <a:solidFill>
                  <a:srgbClr val="00B05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:	</a:t>
            </a:r>
            <a:r>
              <a:rPr lang="es-ES" sz="1900" noProof="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Juan Miguel Alvarez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s-ES" sz="1900" noProof="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		Riccardo Cast</a:t>
            </a:r>
          </a:p>
        </p:txBody>
      </p:sp>
      <p:sp>
        <p:nvSpPr>
          <p:cNvPr id="7" name="Text 4"/>
          <p:cNvSpPr/>
          <p:nvPr/>
        </p:nvSpPr>
        <p:spPr>
          <a:xfrm>
            <a:off x="10396418" y="7726604"/>
            <a:ext cx="40511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s-ES" sz="2000" noProof="0" dirty="0">
                <a:solidFill>
                  <a:srgbClr val="00B05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            Tutor</a:t>
            </a:r>
            <a:r>
              <a:rPr lang="es-ES" sz="1900" noProof="0" dirty="0">
                <a:solidFill>
                  <a:srgbClr val="00B05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:      </a:t>
            </a:r>
            <a:r>
              <a:rPr lang="es-ES" sz="1900" noProof="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David Faustino</a:t>
            </a:r>
          </a:p>
        </p:txBody>
      </p:sp>
      <p:pic>
        <p:nvPicPr>
          <p:cNvPr id="1026" name="Picture 2" descr="Aviones eléctricos para el turismo ¿realidad o ficción?">
            <a:extLst>
              <a:ext uri="{FF2B5EF4-FFF2-40B4-BE49-F238E27FC236}">
                <a16:creationId xmlns:a16="http://schemas.microsoft.com/office/drawing/2014/main" id="{ACEBCB26-CFF5-6297-1C41-E09E6A200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71" y="1873413"/>
            <a:ext cx="6726789" cy="4482774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46879"/>
            <a:ext cx="14630400" cy="70877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s-ES" sz="4450" noProof="0" dirty="0">
                <a:solidFill>
                  <a:srgbClr val="FF000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El Problema:</a:t>
            </a:r>
            <a:r>
              <a:rPr lang="es-ES" sz="4450" noProof="0" dirty="0">
                <a:solidFill>
                  <a:srgbClr val="FFFFF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Retrasos en Vuelos</a:t>
            </a:r>
            <a:endParaRPr lang="es-ES" sz="445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886426"/>
            <a:ext cx="13042821" cy="904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s-ES" sz="200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Los sistemas actuales de gestión aérea son descriptivos y reactivos, careciendo de modelos predictivos indicando los factores y retrasos que afectan las salidas y las llegadas.</a:t>
            </a:r>
            <a:endParaRPr lang="es-ES" sz="20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424714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080E26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3394234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51688" y="308455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801481" y="320897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s-ES" sz="2100" noProof="0" dirty="0">
                <a:solidFill>
                  <a:srgbClr val="00000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1</a:t>
            </a:r>
            <a:endParaRPr lang="es-ES" sz="21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3991689"/>
            <a:ext cx="4196358" cy="35433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s-ES" sz="2200" b="1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Factores Influyentes</a:t>
            </a:r>
            <a:endParaRPr lang="es-ES" sz="2200" b="1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1084" y="4482108"/>
            <a:ext cx="3681770" cy="191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Tx/>
              <a:buChar char="-"/>
            </a:pPr>
            <a:r>
              <a:rPr lang="es-ES" sz="17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Condiciones meteorológicas.</a:t>
            </a:r>
          </a:p>
          <a:p>
            <a:pPr marL="285750" indent="-285750" algn="l">
              <a:lnSpc>
                <a:spcPts val="2850"/>
              </a:lnSpc>
              <a:buFontTx/>
              <a:buChar char="-"/>
            </a:pPr>
            <a:r>
              <a:rPr lang="es-ES" sz="17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Congestión aeroportuaria.</a:t>
            </a:r>
          </a:p>
          <a:p>
            <a:pPr marL="285750" indent="-285750" algn="l">
              <a:lnSpc>
                <a:spcPts val="2850"/>
              </a:lnSpc>
              <a:buFontTx/>
              <a:buChar char="-"/>
            </a:pPr>
            <a:r>
              <a:rPr lang="es-ES" sz="175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Historial</a:t>
            </a:r>
            <a:r>
              <a:rPr lang="es-ES" sz="17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de puntualidad.</a:t>
            </a:r>
          </a:p>
          <a:p>
            <a:pPr marL="285750" indent="-285750" algn="l">
              <a:lnSpc>
                <a:spcPts val="2850"/>
              </a:lnSpc>
              <a:buFontTx/>
              <a:buChar char="-"/>
            </a:pPr>
            <a:r>
              <a:rPr lang="es-ES" sz="175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Efecto</a:t>
            </a:r>
            <a:r>
              <a:rPr lang="es-ES" sz="17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cascada vuelos previos.</a:t>
            </a:r>
            <a:endParaRPr lang="es-ES" sz="175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216962" y="3424714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080E26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16962" y="3394234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974860" y="308455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236083" y="322040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s-ES" sz="2100" noProof="0" dirty="0">
                <a:solidFill>
                  <a:srgbClr val="00000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2</a:t>
            </a:r>
            <a:endParaRPr lang="es-ES" sz="21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16962" y="3991689"/>
            <a:ext cx="4196358" cy="35433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s-ES" sz="2200" b="1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Impacto Actual</a:t>
            </a:r>
            <a:endParaRPr lang="es-ES" sz="2200" b="1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74255" y="4482108"/>
            <a:ext cx="3908583" cy="162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Tx/>
              <a:buChar char="-"/>
            </a:pPr>
            <a:r>
              <a:rPr lang="es-ES" sz="17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Incremento de costes operativos.</a:t>
            </a:r>
          </a:p>
          <a:p>
            <a:pPr marL="285750" indent="-285750" algn="l">
              <a:lnSpc>
                <a:spcPts val="2850"/>
              </a:lnSpc>
              <a:buFontTx/>
              <a:buChar char="-"/>
            </a:pPr>
            <a:r>
              <a:rPr lang="es-ES" sz="175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P</a:t>
            </a:r>
            <a:r>
              <a:rPr lang="es-ES" sz="1750" noProof="0" dirty="0" err="1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enalizaciones</a:t>
            </a:r>
            <a:r>
              <a:rPr lang="es-ES" sz="17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.</a:t>
            </a:r>
            <a:endParaRPr lang="es-ES" sz="1750" dirty="0">
              <a:solidFill>
                <a:srgbClr val="EBECEF"/>
              </a:solidFill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  <a:p>
            <a:pPr marL="285750" indent="-285750" algn="l">
              <a:lnSpc>
                <a:spcPts val="2850"/>
              </a:lnSpc>
              <a:buFontTx/>
              <a:buChar char="-"/>
            </a:pPr>
            <a:r>
              <a:rPr lang="es-ES" sz="17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Deterioro de la reputación</a:t>
            </a:r>
          </a:p>
          <a:p>
            <a:pPr marL="285750" indent="-285750" algn="l">
              <a:lnSpc>
                <a:spcPts val="2850"/>
              </a:lnSpc>
              <a:buFontTx/>
              <a:buChar char="-"/>
            </a:pPr>
            <a:r>
              <a:rPr lang="es-ES" sz="175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P</a:t>
            </a:r>
            <a:r>
              <a:rPr lang="es-ES" sz="1750" noProof="0" dirty="0" err="1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érdida</a:t>
            </a:r>
            <a:r>
              <a:rPr lang="es-ES" sz="17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de fidelización.</a:t>
            </a:r>
            <a:endParaRPr lang="es-ES" sz="175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640133" y="3424714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080E26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640133" y="3394234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398032" y="308455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659255" y="322040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s-ES" sz="2100" noProof="0" dirty="0">
                <a:solidFill>
                  <a:srgbClr val="00000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3</a:t>
            </a:r>
            <a:endParaRPr lang="es-ES" sz="21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640133" y="3991689"/>
            <a:ext cx="4196478" cy="35433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s-ES" sz="2200" b="1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Formulación Teórica</a:t>
            </a:r>
            <a:endParaRPr lang="es-ES" sz="2200" b="1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977437" y="4482108"/>
            <a:ext cx="347567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ES" sz="17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- Regresión (minutos exactos).</a:t>
            </a:r>
            <a:endParaRPr lang="es-ES" sz="175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C09B5B79-899B-2C3A-9DAB-F8E28DF9B297}"/>
              </a:ext>
            </a:extLst>
          </p:cNvPr>
          <p:cNvSpPr/>
          <p:nvPr/>
        </p:nvSpPr>
        <p:spPr>
          <a:xfrm>
            <a:off x="0" y="6728944"/>
            <a:ext cx="14630400" cy="70877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s-ES" sz="4000" noProof="0" dirty="0">
                <a:solidFill>
                  <a:srgbClr val="00B05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La Solución:</a:t>
            </a:r>
            <a:r>
              <a:rPr lang="es-ES" sz="4000" noProof="0" dirty="0">
                <a:solidFill>
                  <a:srgbClr val="FFFFF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Predicción</a:t>
            </a:r>
            <a:endParaRPr lang="es-ES" sz="40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4BB760-4256-A023-0CE1-7E4DEC1E32F2}"/>
              </a:ext>
            </a:extLst>
          </p:cNvPr>
          <p:cNvSpPr/>
          <p:nvPr/>
        </p:nvSpPr>
        <p:spPr>
          <a:xfrm>
            <a:off x="1078230" y="4495800"/>
            <a:ext cx="12012930" cy="329184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A32811-7FBB-6772-F870-F7B22A7F6C04}"/>
              </a:ext>
            </a:extLst>
          </p:cNvPr>
          <p:cNvSpPr/>
          <p:nvPr/>
        </p:nvSpPr>
        <p:spPr>
          <a:xfrm>
            <a:off x="1062990" y="1188720"/>
            <a:ext cx="12012930" cy="329184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" name="Text 0"/>
          <p:cNvSpPr/>
          <p:nvPr/>
        </p:nvSpPr>
        <p:spPr>
          <a:xfrm>
            <a:off x="3401377" y="574174"/>
            <a:ext cx="3695105" cy="389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s-ES" sz="40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Beneficios de la Solución</a:t>
            </a:r>
            <a:endParaRPr lang="es-ES" sz="40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157649" y="1776026"/>
            <a:ext cx="4975171" cy="389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s-ES" sz="2800" b="1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Para los Pasajeros</a:t>
            </a:r>
            <a:endParaRPr lang="es-ES" sz="2800" b="1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96051" y="2225535"/>
            <a:ext cx="6076949" cy="191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s-ES" sz="20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Estimación anticipada de llegada.</a:t>
            </a:r>
            <a:endParaRPr lang="es-ES" sz="20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s-ES" sz="20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Facilita la planificación de viajes.</a:t>
            </a:r>
            <a:endParaRPr lang="es-ES" sz="20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s-ES" sz="20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Identifica trayectos propensos a retrasos.</a:t>
            </a:r>
            <a:endParaRPr lang="es-ES" sz="20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s-ES" sz="20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Evalúa el desempeño histórico de aerolíneas.</a:t>
            </a:r>
            <a:endParaRPr lang="es-ES" sz="20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336742" y="4769630"/>
            <a:ext cx="5144068" cy="389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s-ES" sz="2800" b="1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Para las Aerolíneas</a:t>
            </a:r>
            <a:endParaRPr lang="es-ES" sz="2800" b="1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659891" y="5191397"/>
            <a:ext cx="6261100" cy="2523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s-ES" sz="20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Identificación de factores críticos.</a:t>
            </a:r>
            <a:endParaRPr lang="es-ES" sz="20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s-ES" sz="20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Optimización operativa (recursos, congestión).</a:t>
            </a:r>
            <a:endParaRPr lang="es-ES" sz="20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  <a:p>
            <a:pPr marL="365760" indent="-342900" algn="l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s-ES" sz="20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Reducción de costes (penalizaciones, combustible, horas extra).</a:t>
            </a:r>
            <a:endParaRPr lang="es-ES" sz="20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s-ES" sz="20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Planificación estratégica y mantenimiento.</a:t>
            </a:r>
            <a:endParaRPr lang="es-ES" sz="20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pic>
        <p:nvPicPr>
          <p:cNvPr id="1026" name="Picture 2" descr="1.000+ Las Personas De Negocios Hablando De Avión De Pasajeros Volando  Fotografías de stock, fotos e imágenes libres de derechos - iStock">
            <a:extLst>
              <a:ext uri="{FF2B5EF4-FFF2-40B4-BE49-F238E27FC236}">
                <a16:creationId xmlns:a16="http://schemas.microsoft.com/office/drawing/2014/main" id="{559324A7-CEA7-81AF-E5A9-E8DA248FB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883" y="1349619"/>
            <a:ext cx="4443511" cy="2962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anking de aerolíneas: las mejores del mundo - Flightright ES">
            <a:extLst>
              <a:ext uri="{FF2B5EF4-FFF2-40B4-BE49-F238E27FC236}">
                <a16:creationId xmlns:a16="http://schemas.microsoft.com/office/drawing/2014/main" id="{68D2C53F-8421-9781-EEA1-2E113CA4A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4030" y="5021566"/>
            <a:ext cx="4222957" cy="2220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969" y="33932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ES" sz="28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Datos y EDA</a:t>
            </a:r>
            <a:endParaRPr lang="es-ES" sz="28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34132" y="761594"/>
            <a:ext cx="7741444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Se utilizaron datos históricos de retrasos de vuelos de 2023 (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Kaggle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: "2023 US Civil 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Flights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Delay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, 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Meteo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and 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Aircraft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").</a:t>
            </a:r>
            <a:endParaRPr lang="es-ES" sz="14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64969" y="1065728"/>
            <a:ext cx="3839885" cy="1101864"/>
          </a:xfrm>
          <a:prstGeom prst="roundRect">
            <a:avLst>
              <a:gd name="adj" fmla="val 9108"/>
            </a:avLst>
          </a:prstGeom>
          <a:solidFill>
            <a:srgbClr val="09151A">
              <a:alpha val="95000"/>
            </a:srgbClr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49729" y="1065728"/>
            <a:ext cx="60960" cy="1101864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9278" y="1204317"/>
            <a:ext cx="168783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Integración de 3 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Datasets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:</a:t>
            </a:r>
            <a:endParaRPr lang="es-ES" sz="14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17908" y="1491258"/>
            <a:ext cx="1923297" cy="676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- Vuelos</a:t>
            </a:r>
          </a:p>
          <a:p>
            <a:pPr marL="0" indent="0" algn="l">
              <a:buNone/>
            </a:pPr>
            <a:r>
              <a:rPr lang="es-ES" sz="140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- A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eropuertos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</a:t>
            </a:r>
            <a:endParaRPr lang="es-ES" sz="1400" dirty="0">
              <a:solidFill>
                <a:srgbClr val="E2E6E9"/>
              </a:solidFill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  <a:p>
            <a:pPr marL="0" indent="0" algn="l">
              <a:buNone/>
            </a:pP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- Meteorológico</a:t>
            </a:r>
            <a:endParaRPr lang="es-ES" sz="14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81769" y="1044812"/>
            <a:ext cx="3381398" cy="1122779"/>
          </a:xfrm>
          <a:prstGeom prst="roundRect">
            <a:avLst>
              <a:gd name="adj" fmla="val 9108"/>
            </a:avLst>
          </a:prstGeom>
          <a:solidFill>
            <a:srgbClr val="09151A">
              <a:alpha val="95000"/>
            </a:srgbClr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51288" y="1065727"/>
            <a:ext cx="60960" cy="1101863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50837" y="1204317"/>
            <a:ext cx="154269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Variables Clave:</a:t>
            </a:r>
          </a:p>
        </p:txBody>
      </p:sp>
      <p:sp>
        <p:nvSpPr>
          <p:cNvPr id="11" name="Text 9"/>
          <p:cNvSpPr/>
          <p:nvPr/>
        </p:nvSpPr>
        <p:spPr>
          <a:xfrm>
            <a:off x="4550837" y="1491258"/>
            <a:ext cx="2764363" cy="51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Temporales, operativas, meteorológicas, técnicas de aeronave, geográficas.</a:t>
            </a:r>
            <a:endParaRPr lang="es-ES" sz="14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9729" y="2410699"/>
            <a:ext cx="7217896" cy="21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s-ES" sz="20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Análisis Exploratorio de Datos y Correlaciones</a:t>
            </a:r>
            <a:endParaRPr lang="es-ES" sz="20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3444478" y="13734455"/>
            <a:ext cx="7741444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s-ES" sz="95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Variables meteorológicas (temperatura) muestran alta correlación entre sí, pero débil con el retraso.</a:t>
            </a:r>
            <a:endParaRPr lang="es-ES" sz="95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pic>
        <p:nvPicPr>
          <p:cNvPr id="23" name="Imagen 22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75FE8E90-567F-1A6C-B22D-97FD79B708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45" y="4434840"/>
            <a:ext cx="4623750" cy="34012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4" name="Imagen 23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D7E51CB8-4608-FEA3-202C-65DFB2A7E5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454" y="3395104"/>
            <a:ext cx="4764536" cy="34003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25" name="Grupo 24">
            <a:extLst>
              <a:ext uri="{FF2B5EF4-FFF2-40B4-BE49-F238E27FC236}">
                <a16:creationId xmlns:a16="http://schemas.microsoft.com/office/drawing/2014/main" id="{90009D10-F832-3C42-B301-7A8C4F63A66C}"/>
              </a:ext>
            </a:extLst>
          </p:cNvPr>
          <p:cNvGrpSpPr/>
          <p:nvPr/>
        </p:nvGrpSpPr>
        <p:grpSpPr>
          <a:xfrm>
            <a:off x="7901755" y="967978"/>
            <a:ext cx="6216015" cy="5207000"/>
            <a:chOff x="-308372" y="854015"/>
            <a:chExt cx="6536234" cy="4863459"/>
          </a:xfrm>
        </p:grpSpPr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9C43CDCA-9932-F716-8419-E0E2D678A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08372" y="854015"/>
              <a:ext cx="5380117" cy="48634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drawing" descr="Tabla&#10;&#10;El contenido generado por IA puede ser incorrecto.">
              <a:extLst>
                <a:ext uri="{FF2B5EF4-FFF2-40B4-BE49-F238E27FC236}">
                  <a16:creationId xmlns:a16="http://schemas.microsoft.com/office/drawing/2014/main" id="{D8D1E4E9-BBA7-7176-D9E4-4B949D1DB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7042" y="966725"/>
              <a:ext cx="2750820" cy="2310765"/>
            </a:xfrm>
            <a:prstGeom prst="rect">
              <a:avLst/>
            </a:prstGeom>
          </p:spPr>
        </p:pic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FD43DE1-3A4E-1705-16BF-4921AACA9B66}"/>
              </a:ext>
            </a:extLst>
          </p:cNvPr>
          <p:cNvSpPr txBox="1"/>
          <p:nvPr/>
        </p:nvSpPr>
        <p:spPr>
          <a:xfrm flipH="1">
            <a:off x="7901754" y="6129258"/>
            <a:ext cx="6614346" cy="16702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Alta correlación entre retraso de salida y llegada.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Factores operativos (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carrier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, late 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aircraft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, NAS, 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weather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) tienen correlaciones positivas moderadas.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Variables geográficas y distancia de ruta muestran correlaciones bajas.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Unificación de variables climáticas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C54765C-4A16-823F-2101-F385D82E2895}"/>
              </a:ext>
            </a:extLst>
          </p:cNvPr>
          <p:cNvSpPr txBox="1"/>
          <p:nvPr/>
        </p:nvSpPr>
        <p:spPr>
          <a:xfrm>
            <a:off x="329167" y="2653736"/>
            <a:ext cx="7338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Alta concentración de vuelos con bajos niveles de demora: </a:t>
            </a:r>
          </a:p>
          <a:p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61.3% salida ≤ 0 min </a:t>
            </a:r>
            <a:r>
              <a:rPr lang="en-U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| 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61.2% llegada ≤ 0 min.</a:t>
            </a:r>
            <a:endParaRPr lang="es-ES" sz="14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304" y="172001"/>
            <a:ext cx="6159937" cy="514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050"/>
              </a:lnSpc>
              <a:buNone/>
            </a:pPr>
            <a:r>
              <a:rPr lang="es-ES" sz="3200" noProof="0" dirty="0" err="1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Feature</a:t>
            </a:r>
            <a:r>
              <a:rPr lang="es-ES" sz="32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</a:t>
            </a:r>
            <a:r>
              <a:rPr lang="es-ES" sz="3200" noProof="0" dirty="0" err="1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Engineering</a:t>
            </a:r>
            <a:r>
              <a:rPr lang="es-ES" sz="32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y Modelos</a:t>
            </a:r>
            <a:endParaRPr lang="es-ES" sz="32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42954" y="1393582"/>
            <a:ext cx="483870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s-ES" sz="24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Transformación de Variables Categóricas</a:t>
            </a:r>
            <a:endParaRPr lang="es-ES" sz="24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2954" y="1867451"/>
            <a:ext cx="10334744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s-ES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Label</a:t>
            </a:r>
            <a:r>
              <a:rPr lang="es-ES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</a:t>
            </a:r>
            <a:r>
              <a:rPr lang="es-ES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Encoding</a:t>
            </a:r>
            <a:r>
              <a:rPr lang="es-ES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para variables como aerolínea, aeropuerto, día de la semana</a:t>
            </a:r>
            <a:r>
              <a:rPr lang="es-ES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, fabricante/modelo </a:t>
            </a:r>
            <a:r>
              <a:rPr lang="es-ES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de aeronave.</a:t>
            </a:r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42954" y="2560752"/>
            <a:ext cx="2471261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s-ES" sz="24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Variables</a:t>
            </a:r>
            <a:r>
              <a:rPr lang="es-ES" sz="19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Derivadas</a:t>
            </a:r>
            <a:endParaRPr lang="es-ES" sz="19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2954" y="3034620"/>
            <a:ext cx="10334744" cy="1511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  <a:tabLst>
                <a:tab pos="4114800" algn="l"/>
              </a:tabLst>
            </a:pPr>
            <a:r>
              <a:rPr lang="es-ES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is_weekend</a:t>
            </a:r>
            <a:r>
              <a:rPr lang="es-ES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	- identifica si es fin de semana</a:t>
            </a:r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  <a:tabLst>
                <a:tab pos="4114800" algn="l"/>
              </a:tabLst>
            </a:pPr>
            <a:r>
              <a:rPr lang="es-ES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route_distance_km</a:t>
            </a:r>
            <a:r>
              <a:rPr lang="es-ES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	- distancia de la ruta en Km</a:t>
            </a:r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  <a:tabLst>
                <a:tab pos="4114800" algn="l"/>
              </a:tabLst>
            </a:pPr>
            <a:r>
              <a:rPr lang="es-ES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carrier_avg_delay</a:t>
            </a:r>
            <a:r>
              <a:rPr lang="es-ES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	- promedio retraso </a:t>
            </a:r>
            <a:r>
              <a:rPr lang="es-ES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Aerolíneas o Transportista de vuelo</a:t>
            </a:r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  <a:tabLst>
                <a:tab pos="4114800" algn="l"/>
              </a:tabLst>
            </a:pPr>
            <a:r>
              <a:rPr lang="es-ES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route_avg_delay</a:t>
            </a:r>
            <a:r>
              <a:rPr lang="es-ES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	- promedio retraso en la ruta</a:t>
            </a:r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  <a:tabLst>
                <a:tab pos="4114800" algn="l"/>
              </a:tabLst>
            </a:pPr>
            <a:r>
              <a:rPr lang="es-ES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dep_delay_lag</a:t>
            </a:r>
            <a:r>
              <a:rPr lang="es-ES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, </a:t>
            </a:r>
            <a:r>
              <a:rPr lang="es-ES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arr_delay_lag</a:t>
            </a:r>
            <a:r>
              <a:rPr lang="es-ES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	- </a:t>
            </a:r>
            <a:r>
              <a:rPr lang="es-ES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retraso del vuelo anterior</a:t>
            </a:r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  <a:p>
            <a:pPr marL="342900" indent="-342900" algn="l">
              <a:lnSpc>
                <a:spcPts val="1700"/>
              </a:lnSpc>
              <a:buSzPct val="100000"/>
              <a:buChar char="•"/>
              <a:tabLst>
                <a:tab pos="4114800" algn="l"/>
              </a:tabLst>
            </a:pPr>
            <a:r>
              <a:rPr lang="es-ES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total_delay_history</a:t>
            </a:r>
            <a:r>
              <a:rPr lang="es-ES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	- </a:t>
            </a:r>
            <a:r>
              <a:rPr lang="es-ES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total retraso histórico</a:t>
            </a:r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42954" y="5064874"/>
            <a:ext cx="484632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s-ES" sz="24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Modelos</a:t>
            </a:r>
            <a:r>
              <a:rPr lang="es-ES" sz="19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de Machine </a:t>
            </a:r>
            <a:r>
              <a:rPr lang="es-ES" sz="1900" noProof="0" dirty="0" err="1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Learning</a:t>
            </a:r>
            <a:r>
              <a:rPr lang="es-ES" sz="19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Evaluados</a:t>
            </a:r>
            <a:endParaRPr lang="es-ES" sz="19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894" y="5538743"/>
            <a:ext cx="1240274" cy="12402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5923" y="5538743"/>
            <a:ext cx="1130379" cy="51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s-ES" sz="1400" b="1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Modelos Lineales</a:t>
            </a:r>
            <a:endParaRPr lang="es-ES" sz="1400" b="1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740567" y="6268119"/>
            <a:ext cx="1240274" cy="1240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Regresión Lineal, Ridge, Lasso, 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ElasticNet</a:t>
            </a:r>
            <a:r>
              <a:rPr lang="es-ES" sz="140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.</a:t>
            </a:r>
            <a:endParaRPr lang="es-ES" sz="14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181" y="5538743"/>
            <a:ext cx="1240274" cy="12402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11069" y="5538743"/>
            <a:ext cx="1130498" cy="772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s-ES" sz="1400" b="1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Modelos Basados en Árboles</a:t>
            </a:r>
            <a:endParaRPr lang="es-ES" sz="1400" b="1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811069" y="6559823"/>
            <a:ext cx="1130498" cy="879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Decision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Tree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, 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Random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Forest, Extra 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Trees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.</a:t>
            </a:r>
            <a:endParaRPr lang="es-ES" sz="14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716" y="5538743"/>
            <a:ext cx="1240274" cy="124027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703455" y="5538743"/>
            <a:ext cx="1130498" cy="257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s-ES" sz="1400" b="1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Boosting</a:t>
            </a:r>
            <a:endParaRPr lang="es-ES" sz="1400" b="1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714885" y="6113577"/>
            <a:ext cx="1130498" cy="131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AdaBoost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, 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Gradient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Boosting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, 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XGBoost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, 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LightGBM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, 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CatBoost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.</a:t>
            </a:r>
            <a:endParaRPr lang="es-ES" sz="14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1391" y="5538743"/>
            <a:ext cx="1240274" cy="124027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641560" y="5538743"/>
            <a:ext cx="1130498" cy="257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s-ES" sz="2400" b="1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Otros</a:t>
            </a:r>
            <a:endParaRPr lang="es-ES" sz="1400" b="1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10641560" y="5953557"/>
            <a:ext cx="1542820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KNN (K-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Nearest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Neighbors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).</a:t>
            </a:r>
            <a:endParaRPr lang="es-ES" sz="14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pic>
        <p:nvPicPr>
          <p:cNvPr id="22" name="Image 4" descr="preencoded.png">
            <a:extLst>
              <a:ext uri="{FF2B5EF4-FFF2-40B4-BE49-F238E27FC236}">
                <a16:creationId xmlns:a16="http://schemas.microsoft.com/office/drawing/2014/main" id="{9FFDD152-DF96-B75C-AA38-B065381662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29943" y="5555626"/>
            <a:ext cx="938689" cy="938689"/>
          </a:xfrm>
          <a:prstGeom prst="rect">
            <a:avLst/>
          </a:prstGeom>
        </p:spPr>
      </p:pic>
      <p:sp>
        <p:nvSpPr>
          <p:cNvPr id="23" name="Text 14">
            <a:extLst>
              <a:ext uri="{FF2B5EF4-FFF2-40B4-BE49-F238E27FC236}">
                <a16:creationId xmlns:a16="http://schemas.microsoft.com/office/drawing/2014/main" id="{156EC5A7-172B-7C17-7F63-F1D8A2EA007D}"/>
              </a:ext>
            </a:extLst>
          </p:cNvPr>
          <p:cNvSpPr/>
          <p:nvPr/>
        </p:nvSpPr>
        <p:spPr>
          <a:xfrm>
            <a:off x="13450296" y="5555626"/>
            <a:ext cx="118010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s-ES" sz="1400" b="1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Redes Neuronales</a:t>
            </a:r>
            <a:endParaRPr lang="es-ES" sz="1400" b="1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D62C50CD-1E89-6A0C-830B-E4ABA44FA29D}"/>
              </a:ext>
            </a:extLst>
          </p:cNvPr>
          <p:cNvSpPr/>
          <p:nvPr/>
        </p:nvSpPr>
        <p:spPr>
          <a:xfrm>
            <a:off x="13461726" y="6069330"/>
            <a:ext cx="877133" cy="78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Multi-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Task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 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Cascadia Code Light" panose="020B0609020000020004" pitchFamily="49" charset="0"/>
              </a:rPr>
              <a:t>Learning</a:t>
            </a:r>
            <a:endParaRPr lang="es-ES" sz="1400" noProof="0" dirty="0">
              <a:latin typeface="Noto Sans SC" panose="020B0200000000000000" pitchFamily="34" charset="-128"/>
              <a:ea typeface="Noto Sans SC" panose="020B0200000000000000" pitchFamily="34" charset="-128"/>
              <a:cs typeface="Cascadia Code Light" panose="020B06090200000200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1052" y="173512"/>
            <a:ext cx="8601194" cy="51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s-ES" sz="32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Estrategia de Entrenamiento y Penalización</a:t>
            </a:r>
            <a:endParaRPr lang="es-ES" sz="32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221052" y="649166"/>
            <a:ext cx="3231356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s-ES" sz="19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Configuraciones de </a:t>
            </a:r>
            <a:r>
              <a:rPr lang="es-ES" sz="1900" noProof="0" dirty="0" err="1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Dataset</a:t>
            </a:r>
            <a:endParaRPr lang="es-ES" sz="19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5896122" y="918485"/>
            <a:ext cx="8414238" cy="496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s-ES" sz="140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La app 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despliega una ventana para elegir el tamaño del </a:t>
            </a:r>
            <a:r>
              <a:rPr lang="es-ES" sz="14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dataset</a:t>
            </a: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, modelos a entrenar, nivel de penalización o utilizar un modelo ya entrenado.</a:t>
            </a:r>
            <a:endParaRPr lang="es-ES" sz="14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30630" y="1438031"/>
            <a:ext cx="3391019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s-ES" sz="19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Penalización por Desbalance</a:t>
            </a:r>
            <a:endParaRPr lang="es-ES" sz="19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289500" y="1963297"/>
            <a:ext cx="5073281" cy="461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Para mitigar el desbalance de datos (muchos vuelos sin retraso),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s-ES" sz="14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se incorporaron funciones de penalización:</a:t>
            </a:r>
            <a:endParaRPr lang="es-ES" sz="14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00633" y="2451497"/>
            <a:ext cx="45720" cy="586621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533400" y="2474357"/>
            <a:ext cx="2053114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s-ES" sz="16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Lineal</a:t>
            </a:r>
            <a:endParaRPr lang="es-ES" sz="16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33400" y="2796421"/>
            <a:ext cx="4873228" cy="218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s-ES" sz="125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Peso proporcional al retraso observado.</a:t>
            </a:r>
            <a:endParaRPr lang="es-ES" sz="12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96823" y="3948827"/>
            <a:ext cx="45720" cy="586621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29590" y="3971687"/>
            <a:ext cx="2053114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s-ES" sz="16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Exponencial</a:t>
            </a:r>
            <a:endParaRPr lang="es-ES" sz="16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29590" y="4293751"/>
            <a:ext cx="4873347" cy="218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s-ES" sz="125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Peso crece exponencialmente con el retraso.</a:t>
            </a:r>
            <a:endParaRPr lang="es-ES" sz="12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00633" y="3210878"/>
            <a:ext cx="45720" cy="586621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33400" y="3233738"/>
            <a:ext cx="2053114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s-ES" sz="16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Por Niveles</a:t>
            </a:r>
            <a:endParaRPr lang="es-ES" sz="16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33400" y="3555802"/>
            <a:ext cx="4873228" cy="218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s-ES" sz="125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Pesos fijos por tramos de retraso.</a:t>
            </a:r>
            <a:endParaRPr lang="es-ES" sz="12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96823" y="4708208"/>
            <a:ext cx="45720" cy="586621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29590" y="4731068"/>
            <a:ext cx="2053114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s-ES" sz="16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Raíz Cuadrada</a:t>
            </a:r>
            <a:endParaRPr lang="es-ES" sz="16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29590" y="5053132"/>
            <a:ext cx="4873347" cy="218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s-ES" sz="125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Ponderación </a:t>
            </a:r>
            <a:r>
              <a:rPr lang="es-ES" sz="125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sublineal</a:t>
            </a:r>
            <a:r>
              <a:rPr lang="es-ES" sz="125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, tasa decreciente.</a:t>
            </a:r>
            <a:endParaRPr lang="es-ES" sz="12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7420658D-960D-51C4-D22E-7249148688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6121" y="1415171"/>
            <a:ext cx="8497435" cy="665187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BA5839-BFE2-D8C9-671E-3913CA93658F}"/>
              </a:ext>
            </a:extLst>
          </p:cNvPr>
          <p:cNvSpPr txBox="1"/>
          <p:nvPr/>
        </p:nvSpPr>
        <p:spPr>
          <a:xfrm>
            <a:off x="108763" y="5769060"/>
            <a:ext cx="5715000" cy="73866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s-ES" sz="1400" b="1" i="0" dirty="0">
                <a:solidFill>
                  <a:schemeClr val="bg1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MAE</a:t>
            </a:r>
            <a:r>
              <a:rPr lang="es-ES" sz="1400" b="0" i="0" dirty="0">
                <a:solidFill>
                  <a:schemeClr val="bg1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 significa </a:t>
            </a:r>
            <a:r>
              <a:rPr lang="es-ES" sz="1400" b="1" i="0" dirty="0">
                <a:solidFill>
                  <a:schemeClr val="bg1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Mean Absolute Error</a:t>
            </a:r>
            <a:r>
              <a:rPr lang="es-ES" sz="1400" b="0" i="0" dirty="0">
                <a:solidFill>
                  <a:schemeClr val="bg1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 (Error Absoluto Medio)</a:t>
            </a:r>
          </a:p>
          <a:p>
            <a:r>
              <a:rPr lang="es-ES" sz="14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Es el </a:t>
            </a:r>
            <a:r>
              <a:rPr lang="es-ES" sz="1400" b="1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promedio de los errores</a:t>
            </a:r>
            <a:r>
              <a:rPr lang="es-ES" sz="1400" dirty="0">
                <a:solidFill>
                  <a:schemeClr val="bg1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 de predicción, sin importar si el error fue por exceso o por defecto.</a:t>
            </a:r>
            <a:endParaRPr lang="en-US" sz="1400" dirty="0">
              <a:solidFill>
                <a:schemeClr val="bg1"/>
              </a:solidFill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CF3061-1580-0190-F021-132A369DD35A}"/>
              </a:ext>
            </a:extLst>
          </p:cNvPr>
          <p:cNvSpPr txBox="1"/>
          <p:nvPr/>
        </p:nvSpPr>
        <p:spPr>
          <a:xfrm>
            <a:off x="108763" y="6896604"/>
            <a:ext cx="5715000" cy="73866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s-ES" sz="1400" b="1" i="0" dirty="0">
                <a:solidFill>
                  <a:schemeClr val="bg1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R² (coeficiente de determinación)</a:t>
            </a:r>
            <a:r>
              <a:rPr lang="es-ES" sz="1400" b="0" i="0" dirty="0">
                <a:solidFill>
                  <a:schemeClr val="bg1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 es una métrica estadística que te dice </a:t>
            </a:r>
            <a:r>
              <a:rPr lang="es-ES" sz="1400" b="1" i="0" dirty="0">
                <a:solidFill>
                  <a:schemeClr val="bg1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qué tan bien tu modelo explica la variabilidad de los datos</a:t>
            </a:r>
            <a:r>
              <a:rPr lang="es-ES" sz="1400" b="0" i="0" dirty="0">
                <a:solidFill>
                  <a:schemeClr val="bg1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.</a:t>
            </a:r>
            <a:endParaRPr lang="en-US" sz="1400" dirty="0">
              <a:solidFill>
                <a:schemeClr val="bg1"/>
              </a:solidFill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8343" y="154246"/>
            <a:ext cx="3878223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ES" sz="32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Resultados de los Modelos</a:t>
            </a:r>
            <a:endParaRPr lang="es-ES" sz="32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435120" y="749498"/>
            <a:ext cx="3942040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s-ES" sz="20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Predicción Retraso de Salida (</a:t>
            </a:r>
            <a:r>
              <a:rPr lang="es-ES" sz="2000" noProof="0" dirty="0" err="1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dep_delay_min</a:t>
            </a:r>
            <a:r>
              <a:rPr lang="es-ES" sz="20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)</a:t>
            </a:r>
            <a:endParaRPr lang="es-ES" sz="20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444142" y="3933531"/>
            <a:ext cx="4049077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s-ES" sz="24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Predicción Retraso de Llegada (</a:t>
            </a:r>
            <a:r>
              <a:rPr lang="es-ES" sz="2400" noProof="0" dirty="0" err="1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arr_delay_min</a:t>
            </a:r>
            <a:r>
              <a:rPr lang="es-ES" sz="24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)</a:t>
            </a:r>
            <a:endParaRPr lang="es-ES" sz="24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7" name="Text 3"/>
          <p:cNvSpPr/>
          <p:nvPr/>
        </p:nvSpPr>
        <p:spPr>
          <a:xfrm>
            <a:off x="435120" y="7307819"/>
            <a:ext cx="13486620" cy="296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6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LightGBM</a:t>
            </a:r>
            <a:r>
              <a:rPr lang="es-ES" sz="16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 destaca como el mejor modelo global:  salida </a:t>
            </a:r>
            <a:r>
              <a:rPr lang="es-ES" sz="160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con</a:t>
            </a:r>
            <a:r>
              <a:rPr lang="es-ES" sz="16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 MAE = </a:t>
            </a:r>
            <a:r>
              <a:rPr lang="es-ES" sz="160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5.00 min y R² = 0.9790  | </a:t>
            </a:r>
            <a:r>
              <a:rPr lang="es-ES" sz="16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 llegada con MAE = 3.72 min </a:t>
            </a:r>
            <a:r>
              <a:rPr lang="es-ES" sz="160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y R² =  0.9899</a:t>
            </a:r>
            <a:r>
              <a:rPr lang="es-ES" sz="16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.</a:t>
            </a:r>
            <a:endParaRPr lang="es-ES" sz="16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8" name="Text 4"/>
          <p:cNvSpPr/>
          <p:nvPr/>
        </p:nvSpPr>
        <p:spPr>
          <a:xfrm>
            <a:off x="435120" y="7711267"/>
            <a:ext cx="7383000" cy="421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s-ES" sz="16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Los modelos de </a:t>
            </a:r>
            <a:r>
              <a:rPr lang="es-ES" sz="16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boosting</a:t>
            </a:r>
            <a:r>
              <a:rPr lang="es-ES" sz="160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: </a:t>
            </a:r>
            <a:r>
              <a:rPr lang="es-ES" sz="16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CatBoost</a:t>
            </a:r>
            <a:r>
              <a:rPr lang="es-ES" sz="160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 y</a:t>
            </a:r>
            <a:r>
              <a:rPr lang="es-ES" sz="16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 </a:t>
            </a:r>
            <a:r>
              <a:rPr lang="es-ES" sz="1600" noProof="0" dirty="0" err="1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XGBoost</a:t>
            </a:r>
            <a:r>
              <a:rPr lang="es-ES" sz="160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, </a:t>
            </a:r>
            <a:r>
              <a:rPr lang="es-ES" sz="16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también son competitivos.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s-ES" sz="16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KNN es preciso pero lento. Los modelos lineales son buenos como base.</a:t>
            </a:r>
            <a:endParaRPr lang="es-ES" sz="16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9" name="Text 5"/>
          <p:cNvSpPr/>
          <p:nvPr/>
        </p:nvSpPr>
        <p:spPr>
          <a:xfrm>
            <a:off x="8599983" y="986025"/>
            <a:ext cx="5569585" cy="89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s-ES" sz="24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Interpretabilidad del Modelo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ES" sz="2400" noProof="0" dirty="0">
                <a:solidFill>
                  <a:srgbClr val="F5F0F0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Análisis SHAP</a:t>
            </a:r>
            <a:endParaRPr lang="es-ES" sz="24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1" name="Text 6"/>
          <p:cNvSpPr/>
          <p:nvPr/>
        </p:nvSpPr>
        <p:spPr>
          <a:xfrm>
            <a:off x="3444478" y="13287732"/>
            <a:ext cx="7741444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s-ES" sz="95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Retrasos atribuibles a la aerolínea y al vuelo previo son clave para el retraso de salida.</a:t>
            </a:r>
            <a:endParaRPr lang="es-ES" sz="9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3" name="Text 7"/>
          <p:cNvSpPr/>
          <p:nvPr/>
        </p:nvSpPr>
        <p:spPr>
          <a:xfrm>
            <a:off x="3444478" y="19594473"/>
            <a:ext cx="7741444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s-ES" sz="95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El retraso de salida es el factor más influyente en el retraso de llegada, seguido por duración y distancia del vuelo.</a:t>
            </a:r>
            <a:endParaRPr lang="es-ES" sz="9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A95E480-6C46-B3D1-C0D7-0009CBA09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42" y="1050249"/>
            <a:ext cx="7464261" cy="267355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0AB42EB-5AD6-851E-03C0-AF1FE8145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20" y="4234282"/>
            <a:ext cx="7536181" cy="2846896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2A1C7FA4-0580-EC97-7109-E2E345741C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6673" y="1803111"/>
            <a:ext cx="5569585" cy="394970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7817C5F3-043D-86E8-0C80-D116F1582C88}"/>
              </a:ext>
            </a:extLst>
          </p:cNvPr>
          <p:cNvSpPr txBox="1"/>
          <p:nvPr/>
        </p:nvSpPr>
        <p:spPr>
          <a:xfrm>
            <a:off x="10401300" y="4515853"/>
            <a:ext cx="4054018" cy="23339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 marL="0" indent="0" algn="just">
              <a:lnSpc>
                <a:spcPts val="2150"/>
              </a:lnSpc>
              <a:buNone/>
            </a:pPr>
            <a:r>
              <a:rPr lang="es-ES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Para retraso de salida, las variables más influyentes fueron el retraso de la aerolínea y el retraso del vuelo previo.</a:t>
            </a:r>
          </a:p>
          <a:p>
            <a:pPr marL="0" indent="0" algn="just">
              <a:lnSpc>
                <a:spcPts val="2150"/>
              </a:lnSpc>
              <a:buNone/>
            </a:pPr>
            <a:endParaRPr lang="es-ES" dirty="0">
              <a:solidFill>
                <a:srgbClr val="E2E6E9"/>
              </a:solidFill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pPr marL="0" indent="0" algn="just">
              <a:lnSpc>
                <a:spcPts val="2150"/>
              </a:lnSpc>
              <a:buNone/>
            </a:pPr>
            <a:r>
              <a:rPr lang="es-ES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</a:rPr>
              <a:t>Para retraso de llegada, el retraso de salida, duración y distancia del vuelo fueron clave.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42280" y="111800"/>
            <a:ext cx="64071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s-ES" sz="4450" noProof="0" dirty="0">
                <a:solidFill>
                  <a:srgbClr val="FFFFF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Medium" pitchFamily="34" charset="-120"/>
              </a:rPr>
              <a:t>Prototipo y Tecnologías</a:t>
            </a:r>
            <a:endParaRPr lang="es-ES" sz="4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114663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ES" sz="17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Desarrollado en Python con </a:t>
            </a:r>
            <a:r>
              <a:rPr lang="es-ES" sz="1750" noProof="0" dirty="0" err="1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Gradio</a:t>
            </a:r>
            <a:r>
              <a:rPr lang="es-ES" sz="17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 para una interfaz web interactiva.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s-ES" sz="17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El código fuente está en GitHub.</a:t>
            </a:r>
            <a:endParaRPr lang="es-ES" sz="17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2182772"/>
            <a:ext cx="541180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ES" sz="17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La interfaz permite simular escenarios climáticos y optimistas/pesimistas.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s-ES" sz="17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Integra análisis SHAP para interpretabilidad.</a:t>
            </a:r>
            <a:endParaRPr lang="es-ES" sz="17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886557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4253" y="38865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ES" sz="220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Medium" pitchFamily="34" charset="-120"/>
              </a:rPr>
              <a:t>Python 3.12.x</a:t>
            </a:r>
            <a:endParaRPr lang="es-ES" sz="22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8" name="Text 4"/>
          <p:cNvSpPr/>
          <p:nvPr/>
        </p:nvSpPr>
        <p:spPr>
          <a:xfrm>
            <a:off x="1644253" y="4376976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ES" sz="17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Lenguaje principal y ecosistema ML.</a:t>
            </a:r>
            <a:endParaRPr lang="es-ES" sz="17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193506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51935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ES" sz="2200" noProof="0" dirty="0" err="1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Medium" pitchFamily="34" charset="-120"/>
              </a:rPr>
              <a:t>Gradio</a:t>
            </a:r>
            <a:endParaRPr lang="es-ES" sz="22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644253" y="5683925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ES" sz="17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Interfaz web para visualización.</a:t>
            </a:r>
            <a:endParaRPr lang="es-ES" sz="17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6500455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4253" y="6500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ES" sz="220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Medium" pitchFamily="34" charset="-120"/>
              </a:rPr>
              <a:t>GitHub</a:t>
            </a:r>
            <a:endParaRPr lang="es-ES" sz="22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644253" y="6990874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ES" sz="17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Versionado y publicación del código.</a:t>
            </a:r>
            <a:endParaRPr lang="es-ES" sz="17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ED8DD86-80F7-F908-9885-194E29CCA7A1}"/>
              </a:ext>
            </a:extLst>
          </p:cNvPr>
          <p:cNvSpPr txBox="1"/>
          <p:nvPr/>
        </p:nvSpPr>
        <p:spPr>
          <a:xfrm>
            <a:off x="1495663" y="7387353"/>
            <a:ext cx="4709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noProof="0" dirty="0">
                <a:effectLst/>
                <a:latin typeface="Noto Sans SC" panose="020B0200000000000000" pitchFamily="34" charset="-128"/>
                <a:ea typeface="Noto Sans SC" panose="020B0200000000000000" pitchFamily="34" charset="-128"/>
                <a:cs typeface="Arial" panose="020B0604020202020204" pitchFamily="34" charset="0"/>
              </a:rPr>
              <a:t> </a:t>
            </a:r>
            <a:r>
              <a:rPr lang="es-ES" sz="1800" u="sng" noProof="0" dirty="0">
                <a:solidFill>
                  <a:srgbClr val="0563C1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  <a:cs typeface="Arial" panose="020B0604020202020204" pitchFamily="34" charset="0"/>
                <a:hlinkClick r:id="rId9"/>
              </a:rPr>
              <a:t>https://github.com/whaleskin/obs-tfm.git</a:t>
            </a:r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71964AE-9A94-F62C-1171-0A5345D914D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093" y="1967603"/>
            <a:ext cx="7665641" cy="474948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6">
            <a:extLst>
              <a:ext uri="{FF2B5EF4-FFF2-40B4-BE49-F238E27FC236}">
                <a16:creationId xmlns:a16="http://schemas.microsoft.com/office/drawing/2014/main" id="{89085EBA-9A62-DE22-CD09-CD74918F2FD9}"/>
              </a:ext>
            </a:extLst>
          </p:cNvPr>
          <p:cNvSpPr txBox="1"/>
          <p:nvPr/>
        </p:nvSpPr>
        <p:spPr>
          <a:xfrm>
            <a:off x="11414999" y="6261997"/>
            <a:ext cx="2963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noProof="0" dirty="0">
                <a:effectLst/>
                <a:latin typeface="Noto Sans SC" panose="020B0200000000000000" pitchFamily="34" charset="-128"/>
                <a:ea typeface="Noto Sans SC" panose="020B0200000000000000" pitchFamily="34" charset="-128"/>
                <a:cs typeface="Arial" panose="020B0604020202020204" pitchFamily="34" charset="0"/>
              </a:rPr>
              <a:t> </a:t>
            </a:r>
            <a:r>
              <a:rPr lang="es-ES" u="sng" dirty="0">
                <a:solidFill>
                  <a:srgbClr val="0563C1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Arial" panose="020B0604020202020204" pitchFamily="34" charset="0"/>
                <a:hlinkClick r:id="rId11"/>
              </a:rPr>
              <a:t>http://127.0.0.1:7860</a:t>
            </a:r>
            <a:endParaRPr lang="es-ES" u="sng" dirty="0">
              <a:solidFill>
                <a:srgbClr val="0563C1"/>
              </a:solidFill>
              <a:latin typeface="Noto Sans SC" panose="020B0200000000000000" pitchFamily="34" charset="-128"/>
              <a:ea typeface="Noto Sans SC" panose="020B0200000000000000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1D6A527C-8941-FD5F-1B61-243085E3A02B}"/>
              </a:ext>
            </a:extLst>
          </p:cNvPr>
          <p:cNvSpPr/>
          <p:nvPr/>
        </p:nvSpPr>
        <p:spPr>
          <a:xfrm>
            <a:off x="8801100" y="1920002"/>
            <a:ext cx="2701290" cy="164592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5252773-8484-BD99-E4BF-46F59ED755CF}"/>
              </a:ext>
            </a:extLst>
          </p:cNvPr>
          <p:cNvSpPr/>
          <p:nvPr/>
        </p:nvSpPr>
        <p:spPr>
          <a:xfrm>
            <a:off x="3108960" y="1916192"/>
            <a:ext cx="1645920" cy="164592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63548" y="725924"/>
            <a:ext cx="8891945" cy="593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s-ES" sz="3700" noProof="0" dirty="0">
                <a:solidFill>
                  <a:srgbClr val="FFFFF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Medium" pitchFamily="34" charset="-120"/>
              </a:rPr>
              <a:t>Viabilidad Financiera y Próximos Pasos</a:t>
            </a:r>
            <a:endParaRPr lang="es-ES" sz="37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3549" y="1534239"/>
            <a:ext cx="694027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50"/>
              </a:lnSpc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La inversión total es de 285.670 €, con beneficios directos anuales de </a:t>
            </a:r>
            <a:r>
              <a:rPr lang="es-ES" sz="1600" noProof="0" dirty="0">
                <a:solidFill>
                  <a:srgbClr val="E2E6E9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Merriweather" pitchFamily="34" charset="-120"/>
              </a:rPr>
              <a:t>389.592</a:t>
            </a: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 €.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79075" y="2292787"/>
            <a:ext cx="1744385" cy="626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s-ES" sz="4900" noProof="0" dirty="0">
                <a:latin typeface="Noto Sans SC" panose="020B0200000000000000" pitchFamily="34" charset="-128"/>
                <a:ea typeface="Noto Sans SC" panose="020B0200000000000000" pitchFamily="34" charset="-128"/>
                <a:cs typeface="Fraunces Medium" pitchFamily="34" charset="-120"/>
              </a:rPr>
              <a:t>39%</a:t>
            </a:r>
            <a:endParaRPr lang="es-ES" sz="49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02731" y="2950607"/>
            <a:ext cx="237374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s-ES" sz="1850" noProof="0" dirty="0">
                <a:latin typeface="Noto Sans SC" panose="020B0200000000000000" pitchFamily="34" charset="-128"/>
                <a:ea typeface="Noto Sans SC" panose="020B0200000000000000" pitchFamily="34" charset="-128"/>
                <a:cs typeface="Fraunces Medium" pitchFamily="34" charset="-120"/>
              </a:rPr>
              <a:t>ROI anual</a:t>
            </a:r>
            <a:endParaRPr lang="es-ES" sz="18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82663" y="2400181"/>
            <a:ext cx="585073" cy="626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s-ES" sz="4900" noProof="0" dirty="0">
                <a:latin typeface="Noto Sans SC" panose="020B0200000000000000" pitchFamily="34" charset="-128"/>
                <a:ea typeface="Noto Sans SC" panose="020B0200000000000000" pitchFamily="34" charset="-128"/>
                <a:cs typeface="Fraunces Medium" pitchFamily="34" charset="-120"/>
              </a:rPr>
              <a:t>9 meses</a:t>
            </a:r>
            <a:endParaRPr lang="es-ES" sz="49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83220" y="3030617"/>
            <a:ext cx="1183958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s-ES" sz="1850" noProof="0" dirty="0" err="1">
                <a:latin typeface="Noto Sans SC" panose="020B0200000000000000" pitchFamily="34" charset="-128"/>
                <a:ea typeface="Noto Sans SC" panose="020B0200000000000000" pitchFamily="34" charset="-128"/>
                <a:cs typeface="Fraunces Medium" pitchFamily="34" charset="-120"/>
              </a:rPr>
              <a:t>Payback</a:t>
            </a:r>
            <a:endParaRPr lang="es-ES" sz="18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3548" y="3771424"/>
            <a:ext cx="4384953" cy="474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s-ES" sz="2950" noProof="0" dirty="0">
                <a:solidFill>
                  <a:srgbClr val="FFFFF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Medium" pitchFamily="34" charset="-120"/>
              </a:rPr>
              <a:t>Próximos Pasos</a:t>
            </a:r>
            <a:endParaRPr lang="es-ES" sz="29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3548" y="4564499"/>
            <a:ext cx="189786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Light" pitchFamily="34" charset="-120"/>
              </a:rPr>
              <a:t>01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3548" y="4864179"/>
            <a:ext cx="6472118" cy="22860"/>
          </a:xfrm>
          <a:prstGeom prst="rect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3548" y="5004792"/>
            <a:ext cx="2685931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s-ES" sz="18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Medium" pitchFamily="34" charset="-120"/>
              </a:rPr>
              <a:t>Prueba en Entorno Real</a:t>
            </a:r>
            <a:endParaRPr lang="es-ES" sz="18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3548" y="5396865"/>
            <a:ext cx="6472118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Medir impacto operativo y cuantificar mejoras en puntualidad y costes operativos.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94615" y="4564499"/>
            <a:ext cx="189786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Light" pitchFamily="34" charset="-120"/>
              </a:rPr>
              <a:t>02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94615" y="4864179"/>
            <a:ext cx="6472118" cy="22860"/>
          </a:xfrm>
          <a:prstGeom prst="rect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94615" y="5004792"/>
            <a:ext cx="237374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s-ES" sz="18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Medium" pitchFamily="34" charset="-120"/>
              </a:rPr>
              <a:t>Mejora de Variables</a:t>
            </a:r>
            <a:endParaRPr lang="es-ES" sz="18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94615" y="5396865"/>
            <a:ext cx="6472118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Integrar datos meteorológicos y de seguimiento de vuelos en tiempo real para mayor precisión.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3548" y="6370677"/>
            <a:ext cx="189786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Light" pitchFamily="34" charset="-120"/>
              </a:rPr>
              <a:t>03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63548" y="6670358"/>
            <a:ext cx="6472118" cy="22860"/>
          </a:xfrm>
          <a:prstGeom prst="rect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3548" y="6810970"/>
            <a:ext cx="257270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s-ES" sz="18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Medium" pitchFamily="34" charset="-120"/>
              </a:rPr>
              <a:t>Actualización de Datos</a:t>
            </a:r>
            <a:endParaRPr lang="es-ES" sz="18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3548" y="7203043"/>
            <a:ext cx="6472118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Reentrenar el modelo con datos de tráfico aéreo más recientes y patrones estacionales.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94615" y="6370677"/>
            <a:ext cx="189786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Light" pitchFamily="34" charset="-120"/>
              </a:rPr>
              <a:t>04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394615" y="6670358"/>
            <a:ext cx="6472118" cy="22860"/>
          </a:xfrm>
          <a:prstGeom prst="rect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94615" y="6810970"/>
            <a:ext cx="2942034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s-ES" sz="18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Medium" pitchFamily="34" charset="-120"/>
              </a:rPr>
              <a:t>Optimización Tecnológica</a:t>
            </a:r>
            <a:endParaRPr lang="es-ES" sz="18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94615" y="7203043"/>
            <a:ext cx="6472118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Evolucionar a API REST, </a:t>
            </a:r>
            <a:r>
              <a:rPr lang="es-ES" sz="1450" noProof="0" dirty="0" err="1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MLOps</a:t>
            </a: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 e infraestructura </a:t>
            </a:r>
            <a:r>
              <a:rPr lang="es-ES" sz="1450" noProof="0" dirty="0" err="1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cloud</a:t>
            </a: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 escalable para producción.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65B41-8EE6-32CF-5BEB-090ED11B0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A70E27-161B-F743-E5BF-298C41F07D66}"/>
              </a:ext>
            </a:extLst>
          </p:cNvPr>
          <p:cNvSpPr/>
          <p:nvPr/>
        </p:nvSpPr>
        <p:spPr>
          <a:xfrm>
            <a:off x="0" y="725924"/>
            <a:ext cx="14630400" cy="59328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s-ES" sz="3600" noProof="0" dirty="0">
                <a:solidFill>
                  <a:srgbClr val="FFFFF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Medium" pitchFamily="34" charset="-120"/>
              </a:rPr>
              <a:t>       Conclusiones</a:t>
            </a:r>
            <a:endParaRPr lang="es-ES" sz="36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DC6F666-9557-797A-9688-6D92E2B76E3D}"/>
              </a:ext>
            </a:extLst>
          </p:cNvPr>
          <p:cNvSpPr/>
          <p:nvPr/>
        </p:nvSpPr>
        <p:spPr>
          <a:xfrm>
            <a:off x="717828" y="1428869"/>
            <a:ext cx="189786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Light" pitchFamily="34" charset="-120"/>
              </a:rPr>
              <a:t>01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5329171-6D72-CFBD-714B-51FE7CDBAB8E}"/>
              </a:ext>
            </a:extLst>
          </p:cNvPr>
          <p:cNvSpPr/>
          <p:nvPr/>
        </p:nvSpPr>
        <p:spPr>
          <a:xfrm>
            <a:off x="717828" y="1728549"/>
            <a:ext cx="6472118" cy="22860"/>
          </a:xfrm>
          <a:prstGeom prst="rect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20EABB4-6A03-7A35-0838-770A322F4285}"/>
              </a:ext>
            </a:extLst>
          </p:cNvPr>
          <p:cNvSpPr/>
          <p:nvPr/>
        </p:nvSpPr>
        <p:spPr>
          <a:xfrm>
            <a:off x="717828" y="1869162"/>
            <a:ext cx="2685931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s-ES" sz="18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Medium" pitchFamily="34" charset="-120"/>
              </a:rPr>
              <a:t>Resultados</a:t>
            </a:r>
            <a:endParaRPr lang="es-ES" sz="18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80163EE-BC89-D2B4-61A4-733D44EF3EF4}"/>
              </a:ext>
            </a:extLst>
          </p:cNvPr>
          <p:cNvSpPr/>
          <p:nvPr/>
        </p:nvSpPr>
        <p:spPr>
          <a:xfrm>
            <a:off x="717828" y="2261235"/>
            <a:ext cx="6472118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Los modelos de Machine </a:t>
            </a:r>
            <a:r>
              <a:rPr lang="es-ES" sz="1450" noProof="0" dirty="0" err="1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Learning</a:t>
            </a: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 permiten predecir retrasos en vuelos con alta precisión (R² ≈ 0.98–0.99).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08781E5-A2C8-8897-C4D9-10106E328BB5}"/>
              </a:ext>
            </a:extLst>
          </p:cNvPr>
          <p:cNvSpPr/>
          <p:nvPr/>
        </p:nvSpPr>
        <p:spPr>
          <a:xfrm>
            <a:off x="7611785" y="1428869"/>
            <a:ext cx="189786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Light" pitchFamily="34" charset="-120"/>
              </a:rPr>
              <a:t>02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6D95204-64BA-FD15-A350-D366A46D7CFA}"/>
              </a:ext>
            </a:extLst>
          </p:cNvPr>
          <p:cNvSpPr/>
          <p:nvPr/>
        </p:nvSpPr>
        <p:spPr>
          <a:xfrm>
            <a:off x="7611785" y="1728549"/>
            <a:ext cx="6472118" cy="22860"/>
          </a:xfrm>
          <a:prstGeom prst="rect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2AEC28C-0434-2EE1-FF3D-1F44E4C64DCF}"/>
              </a:ext>
            </a:extLst>
          </p:cNvPr>
          <p:cNvSpPr/>
          <p:nvPr/>
        </p:nvSpPr>
        <p:spPr>
          <a:xfrm>
            <a:off x="7611785" y="1869162"/>
            <a:ext cx="237374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s-ES" sz="18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Medium" pitchFamily="34" charset="-120"/>
              </a:rPr>
              <a:t>Modelos</a:t>
            </a:r>
            <a:endParaRPr lang="es-ES" sz="18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D63409F-2F05-0831-EA8E-F5C0E719EFDD}"/>
              </a:ext>
            </a:extLst>
          </p:cNvPr>
          <p:cNvSpPr/>
          <p:nvPr/>
        </p:nvSpPr>
        <p:spPr>
          <a:xfrm>
            <a:off x="7611785" y="2261235"/>
            <a:ext cx="6472118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Los modelos de </a:t>
            </a:r>
            <a:r>
              <a:rPr lang="es-ES" sz="1450" noProof="0" dirty="0" err="1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boosting</a:t>
            </a: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, especialmente </a:t>
            </a:r>
            <a:r>
              <a:rPr lang="es-ES" sz="1450" noProof="0" dirty="0" err="1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LightGBM</a:t>
            </a: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, ofrecen el mejor equilibrio entre precisión predictiva y eficiencia computacional.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9BB8A13-1839-6E51-9D59-0A49FAAD9EB9}"/>
              </a:ext>
            </a:extLst>
          </p:cNvPr>
          <p:cNvSpPr/>
          <p:nvPr/>
        </p:nvSpPr>
        <p:spPr>
          <a:xfrm>
            <a:off x="717828" y="3383637"/>
            <a:ext cx="189786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Light" pitchFamily="34" charset="-120"/>
              </a:rPr>
              <a:t>03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16D35FB-D6B1-E3C3-D437-62648CC0E14A}"/>
              </a:ext>
            </a:extLst>
          </p:cNvPr>
          <p:cNvSpPr/>
          <p:nvPr/>
        </p:nvSpPr>
        <p:spPr>
          <a:xfrm>
            <a:off x="717828" y="3683318"/>
            <a:ext cx="6472118" cy="22860"/>
          </a:xfrm>
          <a:prstGeom prst="rect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96C2E5E-8266-B319-2CBF-ACA830DC5A38}"/>
              </a:ext>
            </a:extLst>
          </p:cNvPr>
          <p:cNvSpPr/>
          <p:nvPr/>
        </p:nvSpPr>
        <p:spPr>
          <a:xfrm>
            <a:off x="717828" y="3823930"/>
            <a:ext cx="257270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s-ES" sz="18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Medium" pitchFamily="34" charset="-120"/>
              </a:rPr>
              <a:t>Actualización de Datos</a:t>
            </a:r>
            <a:endParaRPr lang="es-ES" sz="18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3BD48D8-B27C-8E23-9170-4F5503E9B7A3}"/>
              </a:ext>
            </a:extLst>
          </p:cNvPr>
          <p:cNvSpPr/>
          <p:nvPr/>
        </p:nvSpPr>
        <p:spPr>
          <a:xfrm>
            <a:off x="717828" y="4216003"/>
            <a:ext cx="6472118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El modelo logra errores promedio bajos (≈5 min en salida y ≈3.7 min en llegada), lo que permite anticipar retrasos con valor operativo.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2B21EF4-B37B-309D-2371-44570ABDFB75}"/>
              </a:ext>
            </a:extLst>
          </p:cNvPr>
          <p:cNvSpPr/>
          <p:nvPr/>
        </p:nvSpPr>
        <p:spPr>
          <a:xfrm>
            <a:off x="7611785" y="3383637"/>
            <a:ext cx="189786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Light" pitchFamily="34" charset="-120"/>
              </a:rPr>
              <a:t>04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83BA020-E479-22D9-2643-BE8B41C048EB}"/>
              </a:ext>
            </a:extLst>
          </p:cNvPr>
          <p:cNvSpPr/>
          <p:nvPr/>
        </p:nvSpPr>
        <p:spPr>
          <a:xfrm>
            <a:off x="7611785" y="3683318"/>
            <a:ext cx="6472118" cy="22860"/>
          </a:xfrm>
          <a:prstGeom prst="rect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CCE854E-4717-4F0F-83A1-2E2598964081}"/>
              </a:ext>
            </a:extLst>
          </p:cNvPr>
          <p:cNvSpPr/>
          <p:nvPr/>
        </p:nvSpPr>
        <p:spPr>
          <a:xfrm>
            <a:off x="7611785" y="3823930"/>
            <a:ext cx="2942034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s-ES" sz="18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Medium" pitchFamily="34" charset="-120"/>
              </a:rPr>
              <a:t>Análisis</a:t>
            </a:r>
            <a:endParaRPr lang="es-ES" sz="18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E017D55-986A-607D-F878-A21C8433B7C0}"/>
              </a:ext>
            </a:extLst>
          </p:cNvPr>
          <p:cNvSpPr/>
          <p:nvPr/>
        </p:nvSpPr>
        <p:spPr>
          <a:xfrm>
            <a:off x="7611785" y="4216003"/>
            <a:ext cx="6472118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El análisis SHAP permitió interpretar el modelo, identificando como variables clave los retrasos operativos previos y la propagación de demoras entre vuelos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3AAA0A43-7D16-E53A-3766-C6DD64A9C021}"/>
              </a:ext>
            </a:extLst>
          </p:cNvPr>
          <p:cNvSpPr/>
          <p:nvPr/>
        </p:nvSpPr>
        <p:spPr>
          <a:xfrm>
            <a:off x="0" y="5398829"/>
            <a:ext cx="14630399" cy="59328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s-ES" sz="3600" noProof="0" dirty="0">
                <a:solidFill>
                  <a:srgbClr val="FFFFF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Medium" pitchFamily="34" charset="-120"/>
              </a:rPr>
              <a:t>       Aprendizajes</a:t>
            </a:r>
            <a:endParaRPr lang="es-ES" sz="360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BDCB11F7-23B7-A202-61B9-51815C6A1813}"/>
              </a:ext>
            </a:extLst>
          </p:cNvPr>
          <p:cNvSpPr/>
          <p:nvPr/>
        </p:nvSpPr>
        <p:spPr>
          <a:xfrm>
            <a:off x="765453" y="6378059"/>
            <a:ext cx="189786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Light" pitchFamily="34" charset="-120"/>
              </a:rPr>
              <a:t>01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04E06A9-2D35-D2FB-B415-C3306BD99965}"/>
              </a:ext>
            </a:extLst>
          </p:cNvPr>
          <p:cNvSpPr/>
          <p:nvPr/>
        </p:nvSpPr>
        <p:spPr>
          <a:xfrm>
            <a:off x="765453" y="6677739"/>
            <a:ext cx="6472118" cy="22860"/>
          </a:xfrm>
          <a:prstGeom prst="rect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0FE217BF-A65E-41D2-5192-8F0C47DDE2F9}"/>
              </a:ext>
            </a:extLst>
          </p:cNvPr>
          <p:cNvSpPr/>
          <p:nvPr/>
        </p:nvSpPr>
        <p:spPr>
          <a:xfrm>
            <a:off x="765453" y="6860083"/>
            <a:ext cx="6472118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Entrenamiento y comparación sistemática de múltiples modelos de Machine </a:t>
            </a:r>
            <a:r>
              <a:rPr lang="es-ES" sz="1450" noProof="0" dirty="0" err="1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Learning</a:t>
            </a: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, permitiendo evaluar cómo diferentes enfoques capturan los patrones presentes en los datos.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58CA60D3-D78E-3B71-AC44-81A53B3E1E5F}"/>
              </a:ext>
            </a:extLst>
          </p:cNvPr>
          <p:cNvSpPr/>
          <p:nvPr/>
        </p:nvSpPr>
        <p:spPr>
          <a:xfrm>
            <a:off x="7659410" y="6378059"/>
            <a:ext cx="189786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Fraunces Light" pitchFamily="34" charset="-120"/>
              </a:rPr>
              <a:t>02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288C42BE-8DF9-579C-E0A2-E4DEF531DBA4}"/>
              </a:ext>
            </a:extLst>
          </p:cNvPr>
          <p:cNvSpPr/>
          <p:nvPr/>
        </p:nvSpPr>
        <p:spPr>
          <a:xfrm>
            <a:off x="7659410" y="6677739"/>
            <a:ext cx="6472118" cy="22860"/>
          </a:xfrm>
          <a:prstGeom prst="rect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s-ES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2D8AA730-852B-B785-DF1A-B002844D4911}"/>
              </a:ext>
            </a:extLst>
          </p:cNvPr>
          <p:cNvSpPr/>
          <p:nvPr/>
        </p:nvSpPr>
        <p:spPr>
          <a:xfrm>
            <a:off x="7659410" y="6757689"/>
            <a:ext cx="6472118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S" sz="1450" noProof="0" dirty="0">
                <a:solidFill>
                  <a:srgbClr val="EBECEF"/>
                </a:solidFill>
                <a:latin typeface="Noto Sans SC" panose="020B0200000000000000" pitchFamily="34" charset="-128"/>
                <a:ea typeface="Noto Sans SC" panose="020B0200000000000000" pitchFamily="34" charset="-128"/>
                <a:cs typeface="Epilogue" pitchFamily="34" charset="-120"/>
              </a:rPr>
              <a:t>Desarrollo de un prototipo práctico e interactivo, que permitió validar el funcionamiento del modelo y acercar la solución a un posible entorno real de uso</a:t>
            </a:r>
            <a:endParaRPr lang="es-ES" sz="1450" noProof="0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23207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3617</TotalTime>
  <Words>1130</Words>
  <Application>Microsoft Office PowerPoint</Application>
  <PresentationFormat>Custom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Noto Sans SC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Alvarez, Juan Miguel [UY]</dc:creator>
  <cp:lastModifiedBy>Riccardo Cast</cp:lastModifiedBy>
  <cp:revision>18</cp:revision>
  <dcterms:created xsi:type="dcterms:W3CDTF">2026-03-03T20:53:03Z</dcterms:created>
  <dcterms:modified xsi:type="dcterms:W3CDTF">2026-03-12T01:08:37Z</dcterms:modified>
</cp:coreProperties>
</file>